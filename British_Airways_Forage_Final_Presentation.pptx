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2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British Airways | Predicting Customer Buying Behaviour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502" y="914400"/>
            <a:ext cx="5120640" cy="5577840"/>
          </a:xfrm>
          <a:prstGeom prst="roundRect">
            <a:avLst/>
          </a:prstGeom>
          <a:solidFill>
            <a:srgbClr val="F5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0247D"/>
                </a:solidFill>
              </a:defRPr>
            </a:pPr>
            <a:r>
              <a:rPr dirty="0"/>
              <a:t>Objective</a:t>
            </a:r>
          </a:p>
          <a:p>
            <a:pPr>
              <a:defRPr sz="1400"/>
            </a:pPr>
            <a:r>
              <a:rPr dirty="0">
                <a:solidFill>
                  <a:schemeClr val="tx1"/>
                </a:solidFill>
              </a:rPr>
              <a:t>Predict whether a customer completes a booking before travel.</a:t>
            </a:r>
          </a:p>
          <a:p>
            <a:pPr>
              <a:defRPr sz="1700" b="1">
                <a:solidFill>
                  <a:srgbClr val="00247D"/>
                </a:solidFill>
              </a:defRPr>
            </a:pPr>
            <a:r>
              <a:rPr dirty="0"/>
              <a:t>Model</a:t>
            </a:r>
          </a:p>
          <a:p>
            <a:pPr>
              <a:defRPr sz="1400"/>
            </a:pPr>
            <a:r>
              <a:rPr dirty="0">
                <a:solidFill>
                  <a:schemeClr val="tx1"/>
                </a:solidFill>
              </a:rPr>
              <a:t>Random Forest + SMOTE + </a:t>
            </a:r>
            <a:r>
              <a:rPr dirty="0" err="1">
                <a:solidFill>
                  <a:schemeClr val="tx1"/>
                </a:solidFill>
              </a:rPr>
              <a:t>RandomizedSearchCV</a:t>
            </a:r>
            <a:r>
              <a:rPr dirty="0">
                <a:solidFill>
                  <a:schemeClr val="tx1"/>
                </a:solidFill>
              </a:rPr>
              <a:t> (5-Fold CV)</a:t>
            </a:r>
          </a:p>
          <a:p>
            <a:pPr>
              <a:defRPr sz="1700" b="1">
                <a:solidFill>
                  <a:srgbClr val="00247D"/>
                </a:solidFill>
              </a:defRPr>
            </a:pPr>
            <a:r>
              <a:rPr dirty="0"/>
              <a:t>Performance</a:t>
            </a:r>
          </a:p>
          <a:p>
            <a:pPr>
              <a:defRPr sz="1400"/>
            </a:pPr>
            <a:r>
              <a:rPr dirty="0">
                <a:solidFill>
                  <a:schemeClr val="tx1"/>
                </a:solidFill>
              </a:rPr>
              <a:t>• Train Accuracy: 93.35%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• Test Accuracy: 81.57%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• CV F1 Score: 82.13%</a:t>
            </a:r>
          </a:p>
          <a:p>
            <a:pPr>
              <a:defRPr sz="1700" b="1">
                <a:solidFill>
                  <a:srgbClr val="00247D"/>
                </a:solidFill>
              </a:defRPr>
            </a:pPr>
            <a:r>
              <a:rPr dirty="0"/>
              <a:t>Business Insights</a:t>
            </a:r>
          </a:p>
          <a:p>
            <a:pPr>
              <a:defRPr sz="1400"/>
            </a:pPr>
            <a:r>
              <a:rPr lang="en-US" dirty="0" smtClean="0">
                <a:solidFill>
                  <a:schemeClr val="tx1"/>
                </a:solidFill>
              </a:rPr>
              <a:t>• </a:t>
            </a:r>
            <a:r>
              <a:rPr lang="en-US" dirty="0">
                <a:solidFill>
                  <a:schemeClr val="tx1"/>
                </a:solidFill>
              </a:rPr>
              <a:t>Booking origin was the strongest predictor of customer booking </a:t>
            </a:r>
            <a:r>
              <a:rPr lang="en-US" dirty="0" err="1">
                <a:solidFill>
                  <a:schemeClr val="tx1"/>
                </a:solidFill>
              </a:rPr>
              <a:t>behaviour</a:t>
            </a:r>
            <a:r>
              <a:rPr lang="en-US" dirty="0">
                <a:solidFill>
                  <a:schemeClr val="tx1"/>
                </a:solidFill>
              </a:rPr>
              <a:t>. 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defRPr sz="1400"/>
            </a:pPr>
            <a:r>
              <a:rPr dirty="0" smtClean="0">
                <a:solidFill>
                  <a:schemeClr val="tx1"/>
                </a:solidFill>
              </a:rPr>
              <a:t>• </a:t>
            </a:r>
            <a:r>
              <a:rPr dirty="0">
                <a:solidFill>
                  <a:schemeClr val="tx1"/>
                </a:solidFill>
              </a:rPr>
              <a:t>Flight duration and purchase lead strongly influenced bookings.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• Length of stay and departure timing also impacted customer </a:t>
            </a:r>
            <a:r>
              <a:rPr dirty="0" err="1">
                <a:solidFill>
                  <a:schemeClr val="tx1"/>
                </a:solidFill>
              </a:rPr>
              <a:t>behaviour</a:t>
            </a:r>
            <a:r>
              <a:rPr dirty="0">
                <a:solidFill>
                  <a:schemeClr val="tx1"/>
                </a:solidFill>
              </a:rPr>
              <a:t>.</a:t>
            </a:r>
          </a:p>
          <a:p>
            <a:pPr>
              <a:defRPr sz="1700" b="1">
                <a:solidFill>
                  <a:srgbClr val="00247D"/>
                </a:solidFill>
              </a:defRPr>
            </a:pPr>
            <a:r>
              <a:rPr dirty="0"/>
              <a:t>Recommendation</a:t>
            </a:r>
          </a:p>
          <a:p>
            <a:pPr>
              <a:defRPr sz="1400"/>
            </a:pPr>
            <a:r>
              <a:rPr dirty="0">
                <a:solidFill>
                  <a:schemeClr val="tx1"/>
                </a:solidFill>
              </a:rPr>
              <a:t>Use the model to target high-probability customers with </a:t>
            </a:r>
            <a:r>
              <a:rPr dirty="0" err="1">
                <a:solidFill>
                  <a:schemeClr val="tx1"/>
                </a:solidFill>
              </a:rPr>
              <a:t>personalised</a:t>
            </a:r>
            <a:r>
              <a:rPr dirty="0">
                <a:solidFill>
                  <a:schemeClr val="tx1"/>
                </a:solidFill>
              </a:rPr>
              <a:t> offers before departure.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14400"/>
            <a:ext cx="6126480" cy="33511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585216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247D"/>
                </a:solidFill>
              </a:defRPr>
            </a:pPr>
            <a:r>
              <a:t>Top 10 Feature Importance from the Tuned Random Forest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112</Words>
  <Application>Microsoft Office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2026-07-15T17:35:08Z</dcterms:modified>
  <cp:category/>
</cp:coreProperties>
</file>